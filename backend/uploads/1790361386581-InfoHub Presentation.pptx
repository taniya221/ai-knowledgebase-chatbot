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91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550" y="3987998"/>
            <a:ext cx="5676900" cy="1123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93349" y="2269777"/>
            <a:ext cx="2405300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0" i="0" u="none">
                <a:solidFill>
                  <a:srgbClr val="0F172A"/>
                </a:solidFill>
                <a:latin typeface="Plus Jakarta Sans ExtraBold"/>
              </a:rPr>
              <a:t>InfoHub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083123"/>
            <a:ext cx="7620000" cy="271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>
                <a:solidFill>
                  <a:srgbClr val="475569"/>
                </a:solidFill>
                <a:latin typeface="Inter"/>
              </a:rPr>
              <a:t>An AI-Powered Knowledge Base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9975" y="4226123"/>
            <a:ext cx="1530191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9975" y="4454723"/>
            <a:ext cx="14573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SemiBold"/>
              </a:rPr>
              <a:t>Taniya Maria Jaison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9975" y="4702373"/>
            <a:ext cx="1295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MCA Student, FISAT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8350" y="4226123"/>
            <a:ext cx="2870358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PROJECT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8350" y="4454723"/>
            <a:ext cx="2733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293B"/>
                </a:solidFill>
                <a:latin typeface="Inter SemiBold"/>
              </a:rPr>
              <a:t>Mr. Nithin Rajan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8350" y="4683323"/>
            <a:ext cx="2733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Department of Computer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05025"/>
            <a:ext cx="5381625" cy="3295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105025"/>
            <a:ext cx="5381625" cy="3295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1575" y="2400300"/>
            <a:ext cx="4710588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369A1"/>
                </a:solidFill>
                <a:latin typeface="Plus Jakarta Sans"/>
              </a:rPr>
              <a:t>Current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81800" y="2390775"/>
            <a:ext cx="4780597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Project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625" y="2771775"/>
            <a:ext cx="48101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FFFF"/>
                </a:solidFill>
                <a:latin typeface="Inter"/>
              </a:rPr>
              <a:t>To bridge the gap between static documents and active knowledge query by creating an intelligent AI assistant.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428875"/>
            <a:ext cx="209550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5375" y="2781300"/>
            <a:ext cx="45624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475569"/>
                </a:solidFill>
                <a:latin typeface="Inter"/>
              </a:rPr>
              <a:t>Scattered Resources: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Information spread across PDFs, notes, circulars, and announcements.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3362325"/>
            <a:ext cx="45624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Inefficient Search: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Traditional keyword search fails to understand user intent and contextual meaning.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3943350"/>
            <a:ext cx="45624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Time-Consuming: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Reading through length documents manually causes delays in productivity.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4524375"/>
            <a:ext cx="45624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Missed Information: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Crucial updates and daily circulars get overlooked easily.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2419350"/>
            <a:ext cx="16192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53225" y="3486150"/>
            <a:ext cx="45815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FFFFFF"/>
                </a:solidFill>
                <a:latin typeface="Inter"/>
              </a:rPr>
              <a:t>Conversational interaction with dynamic document repositories.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3225" y="4067175"/>
            <a:ext cx="45815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FFFFFF"/>
                </a:solidFill>
                <a:latin typeface="Inter"/>
              </a:rPr>
              <a:t>Automated extraction and concise summary generation.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3225" y="4405312"/>
            <a:ext cx="45815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FFFFFF"/>
                </a:solidFill>
                <a:latin typeface="Inter"/>
              </a:rPr>
              <a:t>Proactive daily highlight notifications on crucial announcements.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" y="2743200"/>
            <a:ext cx="1047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" y="3324225"/>
            <a:ext cx="1047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75" y="3905250"/>
            <a:ext cx="1047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775" y="4486275"/>
            <a:ext cx="1047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4625" y="3448050"/>
            <a:ext cx="1047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4625" y="4029075"/>
            <a:ext cx="1047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625" y="4367212"/>
            <a:ext cx="1047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Relevance &amp; 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00325"/>
            <a:ext cx="2590800" cy="2305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900" y="2600325"/>
            <a:ext cx="2590800" cy="2305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600325"/>
            <a:ext cx="2590800" cy="2305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2600325"/>
            <a:ext cx="2590800" cy="2305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5" y="2876550"/>
            <a:ext cx="476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0575" y="3505200"/>
            <a:ext cx="226028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Document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575" y="3829050"/>
            <a:ext cx="21526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 dirty="0">
                <a:solidFill>
                  <a:srgbClr val="64748B"/>
                </a:solidFill>
                <a:latin typeface="Inter"/>
              </a:rPr>
              <a:t>Upload and manage multi-format knowledge files (PDF, DOCX, TXT) with robust extraction pipelines.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9975" y="2876550"/>
            <a:ext cx="476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9975" y="3505200"/>
            <a:ext cx="226028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Semantic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9975" y="3829050"/>
            <a:ext cx="21526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Retrieve precise information based on semantic meaning rather than simple keyword matches.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2876550"/>
            <a:ext cx="476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29375" y="3505200"/>
            <a:ext cx="226028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AI Response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829050"/>
            <a:ext cx="21526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Generate contextual conversational answers using Google Gemini API backed by source references.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8775" y="2876550"/>
            <a:ext cx="476250" cy="4762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48775" y="3505200"/>
            <a:ext cx="226028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Daily Highlights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8775" y="3829050"/>
            <a:ext cx="21526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Proactively summarize and feature key updates on the user dashboard automatically.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737" y="3009900"/>
            <a:ext cx="161925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3325" y="3009900"/>
            <a:ext cx="20955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4150" y="3009900"/>
            <a:ext cx="26670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2125" y="3009900"/>
            <a:ext cx="209550" cy="209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Proposed System &amp; 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55043"/>
            <a:ext cx="11049000" cy="299561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264568"/>
          <a:ext cx="11029949" cy="2976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5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5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8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093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Feature Parameter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Existing Traditional 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Proposed InfoHub AI 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093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Search Mechanism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Manual document search / Keyword matching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284C7"/>
                          </a:solidFill>
                          <a:latin typeface="Inter SemiBold"/>
                        </a:rPr>
                        <a:t>AI-powered Semantic Search &amp; Meaning retrieval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093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Information Synthesis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User must read through lengthy files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284C7"/>
                          </a:solidFill>
                          <a:latin typeface="Inter SemiBold"/>
                        </a:rPr>
                        <a:t>AI provides instant concise answers with sources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093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Updates &amp; Circulars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Important circulars easily missed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284C7"/>
                          </a:solidFill>
                          <a:latin typeface="Inter SemiBold"/>
                        </a:rPr>
                        <a:t>Automated Daily Knowledge Highlights dashboard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093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Data Integration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Information scattered across separate files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284C7"/>
                          </a:solidFill>
                          <a:latin typeface="Inter SemiBold"/>
                        </a:rPr>
                        <a:t>Centralized unified Vector Knowledge Base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09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User Experience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Static file navigation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284C7"/>
                          </a:solidFill>
                          <a:latin typeface="Inter SemiBold"/>
                        </a:rPr>
                        <a:t>Interactive Natural Language Chatbot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3274218"/>
            <a:ext cx="22651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46189" y="3274218"/>
            <a:ext cx="41659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12185" y="3274218"/>
            <a:ext cx="4598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3764756"/>
            <a:ext cx="22651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46189" y="3764756"/>
            <a:ext cx="41659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012185" y="3764756"/>
            <a:ext cx="4598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4255293"/>
            <a:ext cx="22651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46189" y="4255293"/>
            <a:ext cx="41659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12185" y="4255293"/>
            <a:ext cx="4598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745831"/>
            <a:ext cx="22651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46189" y="4745831"/>
            <a:ext cx="41659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012185" y="4745831"/>
            <a:ext cx="4598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Existing System vs. Proposed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28875"/>
            <a:ext cx="3555950" cy="1219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428875"/>
            <a:ext cx="3555950" cy="1219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428875"/>
            <a:ext cx="3556099" cy="1219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838575"/>
            <a:ext cx="3555950" cy="1238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950" y="3838575"/>
            <a:ext cx="3555950" cy="1238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4400" y="3838575"/>
            <a:ext cx="3556099" cy="1238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7750" y="2628900"/>
            <a:ext cx="3023659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1. User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5150" y="2628900"/>
            <a:ext cx="3043661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2. Knowledge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2550" y="2628900"/>
            <a:ext cx="306382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3. Doc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" y="4038600"/>
            <a:ext cx="3023659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4. AI Chatbot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7100" y="3743325"/>
            <a:ext cx="904875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65625" y="4048125"/>
            <a:ext cx="3043661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5. Daily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2550" y="4038600"/>
            <a:ext cx="306382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6. Chat History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2652712"/>
            <a:ext cx="200025" cy="1619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4875" y="2933700"/>
            <a:ext cx="3022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Secure Authentication &amp; 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875" y="3190875"/>
            <a:ext cx="3022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User Role Management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17975" y="2652712"/>
            <a:ext cx="180975" cy="1619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51325" y="2933700"/>
            <a:ext cx="3022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Multi-format File Uploads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1325" y="3190875"/>
            <a:ext cx="3022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Document Storage &amp; Deletion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64425" y="2652712"/>
            <a:ext cx="161925" cy="1619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97775" y="2933700"/>
            <a:ext cx="302269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Text Extraction &amp; Chunking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7775" y="3190875"/>
            <a:ext cx="302269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Vector Embedding Generation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1525" y="4062412"/>
            <a:ext cx="200025" cy="1619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04875" y="4343400"/>
            <a:ext cx="3022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Question Processing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875" y="4600575"/>
            <a:ext cx="3022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Context Retrieval &amp; Gemini Model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27500" y="4071937"/>
            <a:ext cx="161925" cy="1619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60850" y="4352925"/>
            <a:ext cx="3003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New Information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0850" y="4610100"/>
            <a:ext cx="3003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Automated AI Summaries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64425" y="4062412"/>
            <a:ext cx="161925" cy="16192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397775" y="4343400"/>
            <a:ext cx="302269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Conversation Persistence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7775" y="4600575"/>
            <a:ext cx="302269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Previous Query Retrieval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1525" y="2933700"/>
            <a:ext cx="57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284C7"/>
                </a:solidFill>
                <a:latin typeface="Inter"/>
              </a:rPr>
              <a:t>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1525" y="3190875"/>
            <a:ext cx="57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284C7"/>
                </a:solidFill>
                <a:latin typeface="Inter"/>
              </a:rPr>
              <a:t>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7975" y="2933700"/>
            <a:ext cx="57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284C7"/>
                </a:solidFill>
                <a:latin typeface="Inter"/>
              </a:rPr>
              <a:t>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17975" y="3190875"/>
            <a:ext cx="57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284C7"/>
                </a:solidFill>
                <a:latin typeface="Inter"/>
              </a:rPr>
              <a:t>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4425" y="2933700"/>
            <a:ext cx="57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284C7"/>
                </a:solidFill>
                <a:latin typeface="Inter"/>
              </a:rPr>
              <a:t>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4425" y="3190875"/>
            <a:ext cx="57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284C7"/>
                </a:solidFill>
                <a:latin typeface="Inter"/>
              </a:rPr>
              <a:t>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1525" y="4343400"/>
            <a:ext cx="57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284C7"/>
                </a:solidFill>
                <a:latin typeface="Inter"/>
              </a:rPr>
              <a:t>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1525" y="4600575"/>
            <a:ext cx="57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284C7"/>
                </a:solidFill>
                <a:latin typeface="Inter"/>
              </a:rPr>
              <a:t>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7500" y="4352925"/>
            <a:ext cx="57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284C7"/>
                </a:solidFill>
                <a:latin typeface="Inter"/>
              </a:rPr>
              <a:t>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7500" y="4610100"/>
            <a:ext cx="57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284C7"/>
                </a:solidFill>
                <a:latin typeface="Inter"/>
              </a:rPr>
              <a:t>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64425" y="4343400"/>
            <a:ext cx="57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284C7"/>
                </a:solidFill>
                <a:latin typeface="Inter"/>
              </a:rPr>
              <a:t>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64425" y="4600575"/>
            <a:ext cx="57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284C7"/>
                </a:solidFill>
                <a:latin typeface="Inter"/>
              </a:rPr>
              <a:t>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System Architecture Modules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02743"/>
            <a:ext cx="11049000" cy="990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79093"/>
            <a:ext cx="11049000" cy="923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402681"/>
            <a:ext cx="110490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Retrieval-Augmented Generation (RAG) Architecture Workflow: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4331493"/>
            <a:ext cx="1116139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369A1"/>
                </a:solidFill>
                <a:latin typeface="Inter"/>
              </a:rPr>
              <a:t>RAG Execution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4550568"/>
            <a:ext cx="10629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User queries are converted to vector embeddings, matched against document chunks stored in ChromaDB, and passed with context to Google Gemini to eliminate hallucinations and cite source files.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737" y="3083718"/>
            <a:ext cx="419100" cy="419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25" y="3559968"/>
            <a:ext cx="6953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1E293B"/>
                </a:solidFill>
                <a:latin typeface="Inter SemiBold"/>
              </a:rPr>
              <a:t>Documents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2618" y="3317081"/>
            <a:ext cx="104775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1262" y="3083718"/>
            <a:ext cx="419100" cy="419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405062" y="3559968"/>
            <a:ext cx="571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1E293B"/>
                </a:solidFill>
                <a:latin typeface="Inter SemiBold"/>
              </a:rPr>
              <a:t>Chunking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4231" y="3317081"/>
            <a:ext cx="104775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600" y="3083718"/>
            <a:ext cx="419100" cy="4191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76675" y="3559968"/>
            <a:ext cx="74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1E293B"/>
                </a:solidFill>
                <a:latin typeface="Inter SemiBold"/>
              </a:rPr>
              <a:t>Embeddings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7293" y="3317081"/>
            <a:ext cx="104775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4037" y="3083718"/>
            <a:ext cx="419100" cy="4191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519737" y="3559968"/>
            <a:ext cx="6477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1E293B"/>
                </a:solidFill>
                <a:latin typeface="Inter SemiBold"/>
              </a:rPr>
              <a:t>ChromaDB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5106" y="3317081"/>
            <a:ext cx="104775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1862" y="3083718"/>
            <a:ext cx="419100" cy="4191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67550" y="3559968"/>
            <a:ext cx="847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1E293B"/>
                </a:solidFill>
                <a:latin typeface="Inter SemiBold"/>
              </a:rPr>
              <a:t>Vector Search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2943" y="3317081"/>
            <a:ext cx="104775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1587" y="3083718"/>
            <a:ext cx="419100" cy="4191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815387" y="3559968"/>
            <a:ext cx="571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1E293B"/>
                </a:solidFill>
                <a:latin typeface="Inter SemiBold"/>
              </a:rPr>
              <a:t>Gemini AI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556" y="3317081"/>
            <a:ext cx="104775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5137" y="3083718"/>
            <a:ext cx="419100" cy="4191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287000" y="3559968"/>
            <a:ext cx="1095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1E293B"/>
                </a:solidFill>
                <a:latin typeface="Inter SemiBold"/>
              </a:rPr>
              <a:t>Answer + Sources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0612" y="3207543"/>
            <a:ext cx="133350" cy="1714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5087" y="3207543"/>
            <a:ext cx="171450" cy="1714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38612" y="3207543"/>
            <a:ext cx="219075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67387" y="3207543"/>
            <a:ext cx="152400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05687" y="3207543"/>
            <a:ext cx="171450" cy="1714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15412" y="3207543"/>
            <a:ext cx="171450" cy="1714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48962" y="3207543"/>
            <a:ext cx="171450" cy="1714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Methodology &amp; RAG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62262"/>
            <a:ext cx="2633662" cy="1781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6612" y="2862262"/>
            <a:ext cx="2633662" cy="1781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725" y="2862262"/>
            <a:ext cx="2633662" cy="1781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6837" y="2862262"/>
            <a:ext cx="2633662" cy="17811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2475" y="3043237"/>
            <a:ext cx="2385298" cy="21907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 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475" y="3300412"/>
            <a:ext cx="2271712" cy="1905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57587" y="3043237"/>
            <a:ext cx="2385298" cy="219075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 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57587" y="3300412"/>
            <a:ext cx="2271712" cy="1905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62700" y="3043237"/>
            <a:ext cx="2385298" cy="219075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Databases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62700" y="3300412"/>
            <a:ext cx="2271712" cy="1905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67812" y="3043237"/>
            <a:ext cx="2385298" cy="21907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AI &amp; Processing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67812" y="3300412"/>
            <a:ext cx="2271712" cy="1905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071812"/>
            <a:ext cx="1524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2475" y="3433762"/>
            <a:ext cx="22717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 Medium"/>
              </a:rPr>
              <a:t>• React.js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475" y="3690937"/>
            <a:ext cx="22717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 Medium"/>
              </a:rPr>
              <a:t>• HTML5 &amp; CSS3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475" y="3948112"/>
            <a:ext cx="22717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 Medium"/>
              </a:rPr>
              <a:t>• JavaScript (ES6+)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475" y="4205287"/>
            <a:ext cx="22717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 Medium"/>
              </a:rPr>
              <a:t>• Axios / Fetch API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7587" y="3071812"/>
            <a:ext cx="13335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557587" y="3433762"/>
            <a:ext cx="22717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 Medium"/>
              </a:rPr>
              <a:t>• Node.js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7587" y="3690937"/>
            <a:ext cx="22717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 Medium"/>
              </a:rPr>
              <a:t>• Express.js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7587" y="3948112"/>
            <a:ext cx="22717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 Medium"/>
              </a:rPr>
              <a:t>• RESTful API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7587" y="4205287"/>
            <a:ext cx="22717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 Medium"/>
              </a:rPr>
              <a:t>• Multer (File Ingestion)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2700" y="3071812"/>
            <a:ext cx="133350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62700" y="3433762"/>
            <a:ext cx="22717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 Medium"/>
              </a:rPr>
              <a:t>• MongoDB (User &amp; History)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2700" y="3690937"/>
            <a:ext cx="22717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 Medium"/>
              </a:rPr>
              <a:t>• ChromaDB (Vector Store)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2700" y="3948112"/>
            <a:ext cx="22717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 Medium"/>
              </a:rPr>
              <a:t>• Vector Similarity Indexes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812" y="3071812"/>
            <a:ext cx="171450" cy="1524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167812" y="3433762"/>
            <a:ext cx="22717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 Medium"/>
              </a:rPr>
              <a:t>• Google Gemini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7812" y="3690937"/>
            <a:ext cx="22717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 Medium"/>
              </a:rPr>
              <a:t>• Vector Embedding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7812" y="3948112"/>
            <a:ext cx="22717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 Medium"/>
              </a:rPr>
              <a:t>• PDF-Parse &amp; Doc Tools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7812" y="4205287"/>
            <a:ext cx="22717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 Medium"/>
              </a:rPr>
              <a:t>• Postman &amp; Git/GitHub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Technology Stack &amp; Tools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943100"/>
            <a:ext cx="5381625" cy="3619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1500" y="2488406"/>
            <a:ext cx="5381625" cy="6572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3900" y="2602706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Dynamic Knowledge Repository: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InfoHub uses dynamic user-provided enterprise/academic documents rather than a static ML dataset.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2488406"/>
            <a:ext cx="38100" cy="6572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3259931"/>
            <a:ext cx="5381625" cy="6572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3900" y="3374231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Supported Document Types: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Academic notes, college circulars, course syllabi, technical manuals, and official announcements.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3259931"/>
            <a:ext cx="38100" cy="6572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4031456"/>
            <a:ext cx="5381625" cy="871537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3900" y="4145756"/>
            <a:ext cx="507682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Example Knowledge Assets: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031456"/>
            <a:ext cx="38100" cy="87153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2000" y="4417218"/>
            <a:ext cx="50387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• DBMS_Notes.pdf  • Cloud_Computing.pdf</a:t>
            </a:r>
            <a:r>
              <a:t>
</a:t>
            </a:r>
            <a:r>
              <a:rPr sz="975" b="0" i="0" u="none">
                <a:solidFill>
                  <a:srgbClr val="64748B"/>
                </a:solidFill>
                <a:latin typeface="Inter"/>
              </a:rPr>
              <a:t> • Placement_Training_Circular.pdf  • Exam_Schedule.pdf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Knowledge Base Data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140743"/>
            <a:ext cx="5381625" cy="3224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2769393"/>
            <a:ext cx="4905375" cy="6715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3555206"/>
            <a:ext cx="4905375" cy="6715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4341018"/>
            <a:ext cx="4905375" cy="671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140743"/>
            <a:ext cx="565070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Plus Jakarta Sans"/>
              </a:rPr>
              <a:t>Automated Summary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521743"/>
            <a:ext cx="53816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Prevents important announcements from being buried under general document archives by auto-extracting key daily highlights.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5125" y="2378868"/>
            <a:ext cx="4900612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Plus Jakarta Sans"/>
              </a:rPr>
              <a:t>Today's Knowledge Highlights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3093243"/>
            <a:ext cx="5381625" cy="44291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3900" y="3207543"/>
            <a:ext cx="50768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Smart File Monitor: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Detects newly uploaded documents and circulars.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3093243"/>
            <a:ext cx="38100" cy="44291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3650456"/>
            <a:ext cx="5381625" cy="6572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3900" y="3764756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Automatic Summarization: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Generates 2-line actionable insights per document.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3650456"/>
            <a:ext cx="38100" cy="6572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4421981"/>
            <a:ext cx="5381625" cy="44291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3900" y="4536281"/>
            <a:ext cx="50768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Proactive Display: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Displayed on the user home dashboard upon login.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4421981"/>
            <a:ext cx="38100" cy="44291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2402681"/>
            <a:ext cx="142875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77025" y="2902743"/>
            <a:ext cx="476059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Inter SemiBold"/>
              </a:rPr>
              <a:t>1. Campus Placement Drive Notice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7025" y="3121818"/>
            <a:ext cx="45339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Registration deadline extended to August 20. Target branch: MCA &amp; CSE.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7025" y="3688556"/>
            <a:ext cx="476059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Inter SemiBold"/>
              </a:rPr>
              <a:t>2. DBMS Assignment Submission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7025" y="3907631"/>
            <a:ext cx="45339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Revised submission portal link active. Final deadline: August 22.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7025" y="4474368"/>
            <a:ext cx="476059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Inter SemiBold"/>
              </a:rPr>
              <a:t>3. Cloud Workshop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7025" y="4693443"/>
            <a:ext cx="45339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Hands-on session scheduled for August 25 at Main Seminar Hall.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Feature Spotlight: Daily Highlights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452788"/>
            <a:ext cx="11049000" cy="809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43286"/>
            <a:ext cx="11049000" cy="6590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16597"/>
            <a:ext cx="11049000" cy="47238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603277"/>
            <a:ext cx="11049000" cy="6590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4375" y="4595663"/>
            <a:ext cx="10763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Thank You! 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4919513"/>
            <a:ext cx="10763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 SemiBold"/>
              </a:rPr>
              <a:t>InfoHub | Presented by Taniya Maria Jaison | MCA FISAT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2395686"/>
            <a:ext cx="1676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0F172A"/>
                </a:solidFill>
                <a:latin typeface="Inter"/>
              </a:rPr>
              <a:t>[1] Lewis, P., et al. (2020).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875" y="2395686"/>
            <a:ext cx="39052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1" u="none">
                <a:solidFill>
                  <a:srgbClr val="334155"/>
                </a:solidFill>
                <a:latin typeface="Inter"/>
              </a:rPr>
              <a:t>Advances in Neural Information Processing Systems (NeurIPS)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3168997"/>
            <a:ext cx="1695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0F172A"/>
                </a:solidFill>
                <a:latin typeface="Inter"/>
              </a:rPr>
              <a:t>[2] Devlin, J., et al. (2018).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7650" y="3168997"/>
            <a:ext cx="20002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1" u="none">
                <a:solidFill>
                  <a:srgbClr val="334155"/>
                </a:solidFill>
                <a:latin typeface="Inter"/>
              </a:rPr>
              <a:t>arXiv preprint arXiv:1810.04805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3755677"/>
            <a:ext cx="31337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0F172A"/>
                </a:solidFill>
                <a:latin typeface="Inter"/>
              </a:rPr>
              <a:t>[3] ChromaDB &amp; Google Gemini Documentation.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3755677"/>
            <a:ext cx="10487025" cy="348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1" u="none">
                <a:solidFill>
                  <a:srgbClr val="334155"/>
                </a:solidFill>
                <a:latin typeface="Inter"/>
              </a:rPr>
              <a:t>Google AI &amp; Chroma Technical Guides (2024)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References &amp; Conclusion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14725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6875" y="3521868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https://verint.imgix.net/wp-content/uploads/Pattern-1-Vibrant-Blue-Horizontal-scaled.png?fit=max&amp;auto=compress%2Cformat&amp;ixlib=imgixjs-3.6.1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3755231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www.verint.com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1451</TotalTime>
  <Words>805</Words>
  <Application>Microsoft Office PowerPoint</Application>
  <PresentationFormat>Widescreen</PresentationFormat>
  <Paragraphs>146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Inter</vt:lpstr>
      <vt:lpstr>Inter Medium</vt:lpstr>
      <vt:lpstr>Inter SemiBold</vt:lpstr>
      <vt:lpstr>Plus Jakarta Sans</vt:lpstr>
      <vt:lpstr>Plus Jakarta Sans ExtraBold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Taniya Jaison</dc:creator>
  <cp:keywords/>
  <dc:description>generated using python-pptx</dc:description>
  <cp:lastModifiedBy>Taniya Jaison</cp:lastModifiedBy>
  <cp:revision>2</cp:revision>
  <dcterms:created xsi:type="dcterms:W3CDTF">2013-01-27T09:14:16Z</dcterms:created>
  <dcterms:modified xsi:type="dcterms:W3CDTF">2026-08-18T18:29:28Z</dcterms:modified>
  <cp:category/>
</cp:coreProperties>
</file>